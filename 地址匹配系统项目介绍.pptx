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12191695" cy="10972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3200400"/>
            <a:ext cx="8534095" cy="36576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73152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中文地址语义匹配系统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645920"/>
            <a:ext cx="94484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8F3DC"/>
                </a:solidFill>
                <a:latin typeface="Microsoft YaHei"/>
              </a:defRPr>
            </a:pPr>
            <a:r>
              <a:t>Address Semantic Matching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657600"/>
            <a:ext cx="94484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B4332"/>
                </a:solidFill>
                <a:latin typeface="Microsoft YaHei"/>
              </a:defRPr>
            </a:pPr>
            <a:r>
              <a:t>基于阿里 MGeo 模型的智能地址匹配解决方案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206240"/>
            <a:ext cx="94484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B705C"/>
                </a:solidFill>
                <a:latin typeface="Microsoft YaHei"/>
              </a:defRPr>
            </a:pPr>
            <a:r>
              <a:t>150万 企业数据 × 1300万 标准地址库 ｜ 两阶段匹配架构 ｜ Streamlit 交互式应用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6446520"/>
            <a:ext cx="94484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8F3DC"/>
                </a:solidFill>
                <a:latin typeface="Microsoft YaHei"/>
              </a:defRPr>
            </a:pPr>
            <a:r>
              <a:t>技术栈：Python · PostgreSQL + pgvector · Streamlit · 阿里 MGeo ｜ 2026</a:t>
            </a:r>
          </a:p>
        </p:txBody>
      </p:sp>
      <p:sp>
        <p:nvSpPr>
          <p:cNvPr id="11" name="Oval 10"/>
          <p:cNvSpPr/>
          <p:nvPr/>
        </p:nvSpPr>
        <p:spPr>
          <a:xfrm>
            <a:off x="10515600" y="5029200"/>
            <a:ext cx="274320" cy="274320"/>
          </a:xfrm>
          <a:prstGeom prst="ellipse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58400" y="5303520"/>
            <a:ext cx="182880" cy="182880"/>
          </a:xfrm>
          <a:prstGeom prst="ellipse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71600" y="5029200"/>
            <a:ext cx="228600" cy="228600"/>
          </a:xfrm>
          <a:prstGeom prst="ellipse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14400" y="5303520"/>
            <a:ext cx="137160" cy="137160"/>
          </a:xfrm>
          <a:prstGeom prst="ellipse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05C"/>
                </a:solidFill>
                <a:latin typeface="Microsoft YaHei"/>
              </a:defRPr>
            </a:pPr>
            <a:r>
              <a:t>1/12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83680"/>
            <a:ext cx="12191695" cy="36576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54864" cy="54864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4332"/>
                </a:solidFill>
                <a:latin typeface="Microsoft YaHei"/>
              </a:defRPr>
            </a:pPr>
            <a:r>
              <a:t>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05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05C"/>
                </a:solidFill>
                <a:latin typeface="Microsoft YaHei"/>
              </a:defRPr>
            </a:pPr>
            <a:r>
              <a:t>CONTENTS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1874520"/>
            <a:ext cx="411480" cy="411480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8288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4332"/>
                </a:solidFill>
                <a:latin typeface="Microsoft YaHei"/>
              </a:defRPr>
            </a:pPr>
            <a:r>
              <a:t>项目概述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1488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05C"/>
                </a:solidFill>
                <a:latin typeface="Microsoft YaHei"/>
              </a:defRPr>
            </a:pPr>
            <a:r>
              <a:t>项目目标、核心指标、业务价值</a:t>
            </a:r>
          </a:p>
        </p:txBody>
      </p:sp>
      <p:sp>
        <p:nvSpPr>
          <p:cNvPr id="9" name="Oval 8"/>
          <p:cNvSpPr/>
          <p:nvPr/>
        </p:nvSpPr>
        <p:spPr>
          <a:xfrm>
            <a:off x="6583680" y="1874520"/>
            <a:ext cx="411480" cy="411480"/>
          </a:xfrm>
          <a:prstGeom prst="ellipse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18288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4332"/>
                </a:solidFill>
                <a:latin typeface="Microsoft YaHei"/>
              </a:defRPr>
            </a:pPr>
            <a:r>
              <a:t>技术架构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8040" y="21488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05C"/>
                </a:solidFill>
                <a:latin typeface="Microsoft YaHei"/>
              </a:defRPr>
            </a:pPr>
            <a:r>
              <a:t>技术栈总览、系统分层设计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2788920"/>
            <a:ext cx="411480" cy="411480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7432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4332"/>
                </a:solidFill>
                <a:latin typeface="Microsoft YaHei"/>
              </a:defRPr>
            </a:pPr>
            <a:r>
              <a:t>两阶段匹配流程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0632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05C"/>
                </a:solidFill>
                <a:latin typeface="Microsoft YaHei"/>
              </a:defRPr>
            </a:pPr>
            <a:r>
              <a:t>粗召回 + 精排 核心算法</a:t>
            </a:r>
          </a:p>
        </p:txBody>
      </p:sp>
      <p:sp>
        <p:nvSpPr>
          <p:cNvPr id="15" name="Oval 14"/>
          <p:cNvSpPr/>
          <p:nvPr/>
        </p:nvSpPr>
        <p:spPr>
          <a:xfrm>
            <a:off x="6583680" y="2788920"/>
            <a:ext cx="411480" cy="411480"/>
          </a:xfrm>
          <a:prstGeom prst="ellipse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27432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4332"/>
                </a:solidFill>
                <a:latin typeface="Microsoft YaHei"/>
              </a:defRPr>
            </a:pPr>
            <a:r>
              <a:t>粗召回阶段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78040" y="30632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05C"/>
                </a:solidFill>
                <a:latin typeface="Microsoft YaHei"/>
              </a:defRPr>
            </a:pPr>
            <a:r>
              <a:t>MGeo Backbone 向量化 + pgvector 检索</a:t>
            </a:r>
          </a:p>
        </p:txBody>
      </p:sp>
      <p:sp>
        <p:nvSpPr>
          <p:cNvPr id="18" name="Oval 17"/>
          <p:cNvSpPr/>
          <p:nvPr/>
        </p:nvSpPr>
        <p:spPr>
          <a:xfrm>
            <a:off x="914400" y="3703320"/>
            <a:ext cx="411480" cy="411480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36576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4332"/>
                </a:solidFill>
                <a:latin typeface="Microsoft YaHei"/>
              </a:defRPr>
            </a:pPr>
            <a:r>
              <a:t>精排阶段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9776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05C"/>
                </a:solidFill>
                <a:latin typeface="Microsoft YaHei"/>
              </a:defRPr>
            </a:pPr>
            <a:r>
              <a:t>MGeo Entity Alignment 三分类预测</a:t>
            </a:r>
          </a:p>
        </p:txBody>
      </p:sp>
      <p:sp>
        <p:nvSpPr>
          <p:cNvPr id="21" name="Oval 20"/>
          <p:cNvSpPr/>
          <p:nvPr/>
        </p:nvSpPr>
        <p:spPr>
          <a:xfrm>
            <a:off x="6583680" y="3703320"/>
            <a:ext cx="411480" cy="411480"/>
          </a:xfrm>
          <a:prstGeom prst="ellipse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36576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4332"/>
                </a:solidFill>
                <a:latin typeface="Microsoft YaHei"/>
              </a:defRPr>
            </a:pPr>
            <a:r>
              <a:t>模型加载策略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39776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05C"/>
                </a:solidFill>
                <a:latin typeface="Microsoft YaHei"/>
              </a:defRPr>
            </a:pPr>
            <a:r>
              <a:t>多路径回退、兼容性处理</a:t>
            </a:r>
          </a:p>
        </p:txBody>
      </p:sp>
      <p:sp>
        <p:nvSpPr>
          <p:cNvPr id="24" name="Oval 23"/>
          <p:cNvSpPr/>
          <p:nvPr/>
        </p:nvSpPr>
        <p:spPr>
          <a:xfrm>
            <a:off x="914400" y="4617720"/>
            <a:ext cx="411480" cy="411480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45720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4332"/>
                </a:solidFill>
                <a:latin typeface="Microsoft YaHei"/>
              </a:defRPr>
            </a:pPr>
            <a:r>
              <a:t>数据库设计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8760" y="48920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05C"/>
                </a:solidFill>
                <a:latin typeface="Microsoft YaHei"/>
              </a:defRPr>
            </a:pPr>
            <a:r>
              <a:t>PostgreSQL + pgvector 表结构</a:t>
            </a:r>
          </a:p>
        </p:txBody>
      </p:sp>
      <p:sp>
        <p:nvSpPr>
          <p:cNvPr id="27" name="Oval 26"/>
          <p:cNvSpPr/>
          <p:nvPr/>
        </p:nvSpPr>
        <p:spPr>
          <a:xfrm>
            <a:off x="6583680" y="4617720"/>
            <a:ext cx="411480" cy="411480"/>
          </a:xfrm>
          <a:prstGeom prst="ellipse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78040" y="45720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4332"/>
                </a:solidFill>
                <a:latin typeface="Microsoft YaHei"/>
              </a:defRPr>
            </a:pPr>
            <a:r>
              <a:t>核心功能模块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78040" y="48920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05C"/>
                </a:solidFill>
                <a:latin typeface="Microsoft YaHei"/>
              </a:defRPr>
            </a:pPr>
            <a:r>
              <a:t>Streamlit 应用功能一览</a:t>
            </a:r>
          </a:p>
        </p:txBody>
      </p:sp>
      <p:sp>
        <p:nvSpPr>
          <p:cNvPr id="30" name="Oval 29"/>
          <p:cNvSpPr/>
          <p:nvPr/>
        </p:nvSpPr>
        <p:spPr>
          <a:xfrm>
            <a:off x="914400" y="5532120"/>
            <a:ext cx="411480" cy="411480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08760" y="54864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4332"/>
                </a:solidFill>
                <a:latin typeface="Microsoft YaHei"/>
              </a:defRPr>
            </a:pPr>
            <a:r>
              <a:t>关键技术优化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08760" y="58064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05C"/>
                </a:solidFill>
                <a:latin typeface="Microsoft YaHei"/>
              </a:defRPr>
            </a:pPr>
            <a:r>
              <a:t>性能优化与工程实践</a:t>
            </a:r>
          </a:p>
        </p:txBody>
      </p:sp>
      <p:sp>
        <p:nvSpPr>
          <p:cNvPr id="33" name="Oval 32"/>
          <p:cNvSpPr/>
          <p:nvPr/>
        </p:nvSpPr>
        <p:spPr>
          <a:xfrm>
            <a:off x="6583680" y="5532120"/>
            <a:ext cx="411480" cy="411480"/>
          </a:xfrm>
          <a:prstGeom prst="ellipse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78040" y="54864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4332"/>
                </a:solidFill>
                <a:latin typeface="Microsoft YaHei"/>
              </a:defRPr>
            </a:pPr>
            <a:r>
              <a:t>项目总结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78040" y="58064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05C"/>
                </a:solidFill>
                <a:latin typeface="Microsoft YaHei"/>
              </a:defRPr>
            </a:pPr>
            <a:r>
              <a:t>技术亮点与未来展望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05C"/>
                </a:solidFill>
                <a:latin typeface="Microsoft YaHei"/>
              </a:defRPr>
            </a:pPr>
            <a:r>
              <a:t>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83680"/>
            <a:ext cx="12191695" cy="36576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54864" cy="54864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4332"/>
                </a:solidFill>
                <a:latin typeface="Microsoft YaHei"/>
              </a:defRPr>
            </a:pPr>
            <a:r>
              <a:t>项目概述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05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05C"/>
                </a:solidFill>
                <a:latin typeface="Microsoft YaHei"/>
              </a:defRPr>
            </a:pPr>
            <a:r>
              <a:t>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2D6A4F"/>
                </a:solidFill>
                <a:latin typeface="Microsoft YaHei"/>
              </a:defRPr>
            </a:pPr>
            <a:r>
              <a:t>150万+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77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05C"/>
                </a:solidFill>
                <a:latin typeface="Microsoft YaHei"/>
              </a:defRPr>
            </a:pPr>
            <a:r>
              <a:t>企业数据量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260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52B788"/>
                </a:solidFill>
                <a:latin typeface="Microsoft YaHei"/>
              </a:defRPr>
            </a:pPr>
            <a:r>
              <a:t>1300万+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4747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05C"/>
                </a:solidFill>
                <a:latin typeface="Microsoft YaHei"/>
              </a:defRPr>
            </a:pPr>
            <a:r>
              <a:t>标准地址库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0233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C8795C"/>
                </a:solidFill>
                <a:latin typeface="Microsoft YaHei"/>
              </a:defRPr>
            </a:pPr>
            <a:r>
              <a:t>768维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572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05C"/>
                </a:solidFill>
                <a:latin typeface="Microsoft YaHei"/>
              </a:defRPr>
            </a:pPr>
            <a:r>
              <a:t>地址向量维度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0" y="1828800"/>
            <a:ext cx="731520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33088" y="3291840"/>
            <a:ext cx="7278624" cy="27432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0" y="1828800"/>
            <a:ext cx="7315200" cy="4572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43400" y="201168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6A4F"/>
                </a:solidFill>
                <a:latin typeface="Microsoft YaHei"/>
              </a:defRPr>
            </a:pPr>
            <a:r>
              <a:t>🎯 核心目标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2423160"/>
            <a:ext cx="6858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50"/>
              </a:spcAft>
              <a:defRPr sz="1300" b="0">
                <a:solidFill>
                  <a:srgbClr val="6B705C"/>
                </a:solidFill>
                <a:latin typeface="Microsoft YaHei"/>
              </a:defRPr>
            </a:pPr>
            <a:r>
              <a:t>实现大规模企业地址数据与标准地址库的智能语义匹配，</a:t>
            </a:r>
          </a:p>
          <a:p>
            <a:pPr>
              <a:spcAft>
                <a:spcPts val="650"/>
              </a:spcAft>
              <a:defRPr sz="1300" b="0">
                <a:solidFill>
                  <a:srgbClr val="6B705C"/>
                </a:solidFill>
                <a:latin typeface="Microsoft YaHei"/>
              </a:defRPr>
            </a:pPr>
            <a:r>
              <a:t>自动获取标准地址的房号信息，提升地址数据质量和标准化水平。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0" y="3566160"/>
            <a:ext cx="347472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33088" y="5212080"/>
            <a:ext cx="3438144" cy="27432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0" y="3566160"/>
            <a:ext cx="3474720" cy="4572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43400" y="37490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2B788"/>
                </a:solidFill>
                <a:latin typeface="Microsoft YaHei"/>
              </a:defRPr>
            </a:pPr>
            <a:r>
              <a:t>🏗️ 核心架构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4160520"/>
            <a:ext cx="3017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50"/>
              </a:spcAft>
              <a:defRPr sz="1300" b="0">
                <a:solidFill>
                  <a:srgbClr val="6B705C"/>
                </a:solidFill>
                <a:latin typeface="Microsoft YaHei"/>
              </a:defRPr>
            </a:pPr>
            <a:r>
              <a:t>• 粗召回：向量相似度快速检索</a:t>
            </a:r>
          </a:p>
          <a:p>
            <a:pPr>
              <a:spcAft>
                <a:spcPts val="650"/>
              </a:spcAft>
              <a:defRPr sz="1300" b="0">
                <a:solidFill>
                  <a:srgbClr val="6B705C"/>
                </a:solidFill>
                <a:latin typeface="Microsoft YaHei"/>
              </a:defRPr>
            </a:pPr>
            <a:r>
              <a:t>• 精排：MGeo 模型精准匹配</a:t>
            </a:r>
          </a:p>
          <a:p>
            <a:pPr>
              <a:spcAft>
                <a:spcPts val="650"/>
              </a:spcAft>
              <a:defRPr sz="1300" b="0">
                <a:solidFill>
                  <a:srgbClr val="6B705C"/>
                </a:solidFill>
                <a:latin typeface="Microsoft YaHei"/>
              </a:defRPr>
            </a:pPr>
            <a:r>
              <a:t>• 两阶段分层，兼顾效率与精度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63840" y="3566160"/>
            <a:ext cx="356616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882128" y="5212080"/>
            <a:ext cx="3529584" cy="27432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863840" y="3566160"/>
            <a:ext cx="3566160" cy="45720"/>
          </a:xfrm>
          <a:prstGeom prst="rect">
            <a:avLst/>
          </a:prstGeom>
          <a:solidFill>
            <a:srgbClr val="C87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92440" y="3749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8795C"/>
                </a:solidFill>
                <a:latin typeface="Microsoft YaHei"/>
              </a:defRPr>
            </a:pPr>
            <a:r>
              <a:t>💡 技术亮点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2440" y="4160520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50"/>
              </a:spcAft>
              <a:defRPr sz="1300" b="0">
                <a:solidFill>
                  <a:srgbClr val="6B705C"/>
                </a:solidFill>
                <a:latin typeface="Microsoft YaHei"/>
              </a:defRPr>
            </a:pPr>
            <a:r>
              <a:t>• pgvector 向量数据库检索</a:t>
            </a:r>
          </a:p>
          <a:p>
            <a:pPr>
              <a:spcAft>
                <a:spcPts val="650"/>
              </a:spcAft>
              <a:defRPr sz="1300" b="0">
                <a:solidFill>
                  <a:srgbClr val="6B705C"/>
                </a:solidFill>
                <a:latin typeface="Microsoft YaHei"/>
              </a:defRPr>
            </a:pPr>
            <a:r>
              <a:t>• 阿里 MGeo 中文地址预训练模型</a:t>
            </a:r>
          </a:p>
          <a:p>
            <a:pPr>
              <a:spcAft>
                <a:spcPts val="650"/>
              </a:spcAft>
              <a:defRPr sz="1300" b="0">
                <a:solidFill>
                  <a:srgbClr val="6B705C"/>
                </a:solidFill>
                <a:latin typeface="Microsoft YaHei"/>
              </a:defRPr>
            </a:pPr>
            <a:r>
              <a:t>• 多路径模型加载与设备自适应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05C"/>
                </a:solidFill>
                <a:latin typeface="Microsoft YaHei"/>
              </a:defRPr>
            </a:pPr>
            <a:r>
              <a:t>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83680"/>
            <a:ext cx="12191695" cy="36576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54864" cy="54864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4332"/>
                </a:solidFill>
                <a:latin typeface="Microsoft YaHei"/>
              </a:defRPr>
            </a:pPr>
            <a:r>
              <a:t>技术架构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05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05C"/>
                </a:solidFill>
                <a:latin typeface="Microsoft YaHei"/>
              </a:defRPr>
            </a:pPr>
            <a:r>
              <a:t>TECHNICAL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1828800"/>
            <a:ext cx="9418320" cy="914400"/>
          </a:xfrm>
          <a:prstGeom prst="round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Streamlit UI 层</a:t>
            </a:r>
          </a:p>
          <a:p>
            <a:pPr algn="ctr">
              <a:defRPr sz="1100">
                <a:solidFill>
                  <a:srgbClr val="D8F3DC"/>
                </a:solidFill>
                <a:latin typeface="Microsoft YaHei"/>
              </a:defRPr>
            </a:pPr>
            <a:r>
              <a:t>数据库配置 ｜ 向量预处理 ｜ 地址匹配 ｜ 结果管理 ｜ 系统日志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926080"/>
            <a:ext cx="9418320" cy="91440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匹配层 matching/</a:t>
            </a:r>
          </a:p>
          <a:p>
            <a:pPr algn="ctr">
              <a:defRPr sz="1100">
                <a:solidFill>
                  <a:srgbClr val="D8F3DC"/>
                </a:solidFill>
                <a:latin typeface="Microsoft YaHei"/>
              </a:defRPr>
            </a:pPr>
            <a:r>
              <a:t>AddressMatcher 两阶段编排 ｜ MGeoSimilarityMatcher 独立匹配 ｜ RankingEngine 精排引擎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4023360"/>
            <a:ext cx="9418320" cy="914400"/>
          </a:xfrm>
          <a:prstGeom prst="round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模型层 model/</a:t>
            </a:r>
          </a:p>
          <a:p>
            <a:pPr algn="ctr">
              <a:defRPr sz="1100">
                <a:solidFill>
                  <a:srgbClr val="D8F3DC"/>
                </a:solidFill>
                <a:latin typeface="Microsoft YaHei"/>
              </a:defRPr>
            </a:pPr>
            <a:r>
              <a:t>AddressEmbedder 粗召回向量化 (768维) ｜ MGeoModel 精排三分类预测 (3标签)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5120640"/>
            <a:ext cx="9418320" cy="914400"/>
          </a:xfrm>
          <a:prstGeom prst="roundRect">
            <a:avLst/>
          </a:prstGeom>
          <a:solidFill>
            <a:srgbClr val="6B9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数据库层 database/</a:t>
            </a:r>
          </a:p>
          <a:p>
            <a:pPr algn="ctr">
              <a:defRPr sz="1100">
                <a:solidFill>
                  <a:srgbClr val="D8F3DC"/>
                </a:solidFill>
                <a:latin typeface="Microsoft YaHei"/>
              </a:defRPr>
            </a:pPr>
            <a:r>
              <a:t>DBConnection 连接管理 ｜ VectorStore pgvector检索 ｜ DataLoader 批量加载 ｜ TagManager 标签管理</a:t>
            </a:r>
          </a:p>
        </p:txBody>
      </p:sp>
      <p:sp>
        <p:nvSpPr>
          <p:cNvPr id="10" name="Down Arrow 9"/>
          <p:cNvSpPr/>
          <p:nvPr/>
        </p:nvSpPr>
        <p:spPr>
          <a:xfrm>
            <a:off x="5852160" y="2788920"/>
            <a:ext cx="457200" cy="228600"/>
          </a:xfrm>
          <a:prstGeom prst="downArrow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own Arrow 10"/>
          <p:cNvSpPr/>
          <p:nvPr/>
        </p:nvSpPr>
        <p:spPr>
          <a:xfrm>
            <a:off x="5852160" y="3886200"/>
            <a:ext cx="457200" cy="228600"/>
          </a:xfrm>
          <a:prstGeom prst="downArrow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own Arrow 11"/>
          <p:cNvSpPr/>
          <p:nvPr/>
        </p:nvSpPr>
        <p:spPr>
          <a:xfrm>
            <a:off x="5852160" y="4983480"/>
            <a:ext cx="457200" cy="228600"/>
          </a:xfrm>
          <a:prstGeom prst="downArrow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6309360"/>
            <a:ext cx="9418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05C"/>
                </a:solidFill>
                <a:latin typeface="Microsoft YaHei"/>
              </a:defRPr>
            </a:pPr>
            <a:r>
              <a:t>核心技术：Python · PostgreSQL + pgvector · Streamlit · PyTorch · ModelScope · HuggingFace Transformers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05C"/>
                </a:solidFill>
                <a:latin typeface="Microsoft YaHei"/>
              </a:defRPr>
            </a:pPr>
            <a:r>
              <a:t>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83680"/>
            <a:ext cx="12191695" cy="36576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54864" cy="54864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4332"/>
                </a:solidFill>
                <a:latin typeface="Microsoft YaHei"/>
              </a:defRPr>
            </a:pPr>
            <a:r>
              <a:t>两阶段匹配流程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05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05C"/>
                </a:solidFill>
                <a:latin typeface="Microsoft YaHei"/>
              </a:defRPr>
            </a:pPr>
            <a:r>
              <a:t>TWO-STAGE MATCHING PIPELINE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5029200" cy="3474720"/>
          </a:xfrm>
          <a:prstGeom prst="round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68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4332"/>
                </a:solidFill>
                <a:latin typeface="Microsoft YaHei"/>
              </a:defRPr>
            </a:pPr>
            <a:r>
              <a:t>阶段一：粗召回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017520"/>
            <a:ext cx="4389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50"/>
              </a:spcAft>
              <a:defRPr sz="1300" b="0">
                <a:solidFill>
                  <a:srgbClr val="6B705C"/>
                </a:solidFill>
                <a:latin typeface="Microsoft YaHei"/>
              </a:defRPr>
            </a:pPr>
            <a:r>
              <a:t>📊 企业地址数据输入</a:t>
            </a:r>
          </a:p>
          <a:p>
            <a:pPr>
              <a:spcAft>
                <a:spcPts val="650"/>
              </a:spcAft>
              <a:defRPr sz="1300" b="0">
                <a:solidFill>
                  <a:srgbClr val="6B705C"/>
                </a:solidFill>
                <a:latin typeface="Microsoft YaHei"/>
              </a:defRPr>
            </a:pPr>
            <a:r>
              <a:t>🧠 MGeo Backbone 编码为 768维向量</a:t>
            </a:r>
          </a:p>
          <a:p>
            <a:pPr>
              <a:spcAft>
                <a:spcPts val="650"/>
              </a:spcAft>
              <a:defRPr sz="1300" b="0">
                <a:solidFill>
                  <a:srgbClr val="6B705C"/>
                </a:solidFill>
                <a:latin typeface="Microsoft YaHei"/>
              </a:defRPr>
            </a:pPr>
            <a:r>
              <a:t>🔍 pgvector LATERAL JOIN 检索</a:t>
            </a:r>
          </a:p>
          <a:p>
            <a:pPr>
              <a:spcAft>
                <a:spcPts val="650"/>
              </a:spcAft>
              <a:defRPr sz="1300" b="0">
                <a:solidFill>
                  <a:srgbClr val="6B705C"/>
                </a:solidFill>
                <a:latin typeface="Microsoft YaHei"/>
              </a:defRPr>
            </a:pPr>
            <a:r>
              <a:t>📋 返回 Top-50 相似候选地址</a:t>
            </a:r>
          </a:p>
          <a:p>
            <a:pPr>
              <a:spcAft>
                <a:spcPts val="650"/>
              </a:spcAft>
              <a:defRPr sz="1300" b="0">
                <a:solidFill>
                  <a:srgbClr val="6B705C"/>
                </a:solidFill>
                <a:latin typeface="Microsoft YaHei"/>
              </a:defRPr>
            </a:pPr>
            <a:r>
              <a:t>⚡ SIMILARITY_THRESHOLD ≥ 0.8 过滤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852160" y="3749039"/>
            <a:ext cx="548640" cy="365760"/>
          </a:xfrm>
          <a:prstGeom prst="rightArrow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92240" y="2286000"/>
            <a:ext cx="5029200" cy="3474720"/>
          </a:xfrm>
          <a:prstGeom prst="roundRect">
            <a:avLst/>
          </a:prstGeom>
          <a:solidFill>
            <a:srgbClr val="F0E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2468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E2723"/>
                </a:solidFill>
                <a:latin typeface="Microsoft YaHei"/>
              </a:defRPr>
            </a:pPr>
            <a:r>
              <a:t>阶段二：精排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3017520"/>
            <a:ext cx="4389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50"/>
              </a:spcAft>
              <a:defRPr sz="1300" b="0">
                <a:solidFill>
                  <a:srgbClr val="6B705C"/>
                </a:solidFill>
                <a:latin typeface="Microsoft YaHei"/>
              </a:defRPr>
            </a:pPr>
            <a:r>
              <a:t>🤖 MGeo Entity Alignment 模型加载</a:t>
            </a:r>
          </a:p>
          <a:p>
            <a:pPr>
              <a:spcAft>
                <a:spcPts val="650"/>
              </a:spcAft>
              <a:defRPr sz="1300" b="0">
                <a:solidFill>
                  <a:srgbClr val="6B705C"/>
                </a:solidFill>
                <a:latin typeface="Microsoft YaHei"/>
              </a:defRPr>
            </a:pPr>
            <a:r>
              <a:t>🔬 候选地址对两两比较</a:t>
            </a:r>
          </a:p>
          <a:p>
            <a:pPr>
              <a:spcAft>
                <a:spcPts val="650"/>
              </a:spcAft>
              <a:defRPr sz="1300" b="0">
                <a:solidFill>
                  <a:srgbClr val="6B705C"/>
                </a:solidFill>
                <a:latin typeface="Microsoft YaHei"/>
              </a:defRPr>
            </a:pPr>
            <a:r>
              <a:t>📈 输出三分类概率 (exact/partial/not)</a:t>
            </a:r>
          </a:p>
          <a:p>
            <a:pPr>
              <a:spcAft>
                <a:spcPts val="650"/>
              </a:spcAft>
              <a:defRPr sz="1300" b="0">
                <a:solidFill>
                  <a:srgbClr val="6B705C"/>
                </a:solidFill>
                <a:latin typeface="Microsoft YaHei"/>
              </a:defRPr>
            </a:pPr>
            <a:r>
              <a:t>🏆 按 exact_match 降序排序</a:t>
            </a:r>
          </a:p>
          <a:p>
            <a:pPr>
              <a:spcAft>
                <a:spcPts val="650"/>
              </a:spcAft>
              <a:defRPr sz="1300" b="0">
                <a:solidFill>
                  <a:srgbClr val="6B705C"/>
                </a:solidFill>
                <a:latin typeface="Microsoft YaHei"/>
              </a:defRPr>
            </a:pPr>
            <a:r>
              <a:t>✅ 确定最终匹配状态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6035040"/>
            <a:ext cx="10789920" cy="41148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6080760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8F3DC"/>
                </a:solidFill>
                <a:latin typeface="Microsoft YaHei"/>
              </a:defRPr>
            </a:pPr>
            <a:r>
              <a:t>关键参数：SIMILARITY_THRESHOLD = 0.8 ｜ RECALL_TOP_N = 50 ｜ BATCH_SIZE_MODEL = 128 ｜ 双重阈值过滤（SQL + Python）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05C"/>
                </a:solidFill>
                <a:latin typeface="Microsoft YaHei"/>
              </a:defRPr>
            </a:pPr>
            <a:r>
              <a:t>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83680"/>
            <a:ext cx="12191695" cy="36576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54864" cy="54864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4332"/>
                </a:solidFill>
                <a:latin typeface="Microsoft YaHei"/>
              </a:defRPr>
            </a:pPr>
            <a:r>
              <a:t>粗召回阶段详解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05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05C"/>
                </a:solidFill>
                <a:latin typeface="Microsoft YaHei"/>
              </a:defRPr>
            </a:pPr>
            <a:r>
              <a:t>STAGE 1: COARSE RECALL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30352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9808" y="3840480"/>
            <a:ext cx="5266944" cy="27432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828800"/>
            <a:ext cx="5303520" cy="4572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6A4F"/>
                </a:solidFill>
                <a:latin typeface="Microsoft YaHei"/>
              </a:defRPr>
            </a:pPr>
            <a:r>
              <a:t>🧠 MGeo Backbone 向量化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423160"/>
            <a:ext cx="48463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50"/>
              </a:spcAft>
              <a:defRPr sz="1300" b="0">
                <a:solidFill>
                  <a:srgbClr val="6B705C"/>
                </a:solidFill>
                <a:latin typeface="Microsoft YaHei"/>
              </a:defRPr>
            </a:pPr>
            <a:r>
              <a:t>模型：iic/mgeo_backbone_chinese_base</a:t>
            </a:r>
          </a:p>
          <a:p>
            <a:pPr>
              <a:spcAft>
                <a:spcPts val="650"/>
              </a:spcAft>
              <a:defRPr sz="1300" b="0">
                <a:solidFill>
                  <a:srgbClr val="6B705C"/>
                </a:solidFill>
                <a:latin typeface="Microsoft YaHei"/>
              </a:defRPr>
            </a:pPr>
            <a:r>
              <a:t>输出：768维语义向量</a:t>
            </a:r>
          </a:p>
          <a:p>
            <a:pPr>
              <a:spcAft>
                <a:spcPts val="650"/>
              </a:spcAft>
              <a:defRPr sz="1300" b="0">
                <a:solidFill>
                  <a:srgbClr val="6B705C"/>
                </a:solidFill>
                <a:latin typeface="Microsoft YaHei"/>
              </a:defRPr>
            </a:pPr>
            <a:r>
              <a:t>批处理：BATCH_SIZE_EMBEDDING = 256 (GPU)</a:t>
            </a:r>
          </a:p>
          <a:p>
            <a:pPr>
              <a:spcAft>
                <a:spcPts val="650"/>
              </a:spcAft>
              <a:defRPr sz="1300" b="0">
                <a:solidFill>
                  <a:srgbClr val="6B705C"/>
                </a:solidFill>
                <a:latin typeface="Microsoft YaHei"/>
              </a:defRPr>
            </a:pPr>
            <a:r>
              <a:t>设备自适应：GPU 自动检测与回退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828800"/>
            <a:ext cx="530352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19088" y="3840480"/>
            <a:ext cx="5266944" cy="27432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828800"/>
            <a:ext cx="5303520" cy="4572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20116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2B788"/>
                </a:solidFill>
                <a:latin typeface="Microsoft YaHei"/>
              </a:defRPr>
            </a:pPr>
            <a:r>
              <a:t>🗄️ pgvector 向量检索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423160"/>
            <a:ext cx="48463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50"/>
              </a:spcAft>
              <a:defRPr sz="1300" b="0">
                <a:solidFill>
                  <a:srgbClr val="6B705C"/>
                </a:solidFill>
                <a:latin typeface="Microsoft YaHei"/>
              </a:defRPr>
            </a:pPr>
            <a:r>
              <a:t>扩展：PostgreSQL pgvector 插件</a:t>
            </a:r>
          </a:p>
          <a:p>
            <a:pPr>
              <a:spcAft>
                <a:spcPts val="650"/>
              </a:spcAft>
              <a:defRPr sz="1300" b="0">
                <a:solidFill>
                  <a:srgbClr val="6B705C"/>
                </a:solidFill>
                <a:latin typeface="Microsoft YaHei"/>
              </a:defRPr>
            </a:pPr>
            <a:r>
              <a:t>索引：IVFFlat 向量索引加速检索</a:t>
            </a:r>
          </a:p>
          <a:p>
            <a:pPr>
              <a:spcAft>
                <a:spcPts val="650"/>
              </a:spcAft>
              <a:defRPr sz="1300" b="0">
                <a:solidFill>
                  <a:srgbClr val="6B705C"/>
                </a:solidFill>
                <a:latin typeface="Microsoft YaHei"/>
              </a:defRPr>
            </a:pPr>
            <a:r>
              <a:t>方法：LATERAL JOIN 批量检索</a:t>
            </a:r>
          </a:p>
          <a:p>
            <a:pPr>
              <a:spcAft>
                <a:spcPts val="650"/>
              </a:spcAft>
              <a:defRPr sz="1300" b="0">
                <a:solidFill>
                  <a:srgbClr val="6B705C"/>
                </a:solidFill>
                <a:latin typeface="Microsoft YaHei"/>
              </a:defRPr>
            </a:pPr>
            <a:r>
              <a:t>过滤：cosine similarity &gt;= threshold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114800"/>
            <a:ext cx="530352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9808" y="6126480"/>
            <a:ext cx="5266944" cy="27432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114800"/>
            <a:ext cx="5303520" cy="45720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2976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6914"/>
                </a:solidFill>
                <a:latin typeface="Microsoft YaHei"/>
              </a:defRPr>
            </a:pPr>
            <a:r>
              <a:t>📋 召回结果存储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709160"/>
            <a:ext cx="48463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50"/>
              </a:spcAft>
              <a:defRPr sz="1300" b="0">
                <a:solidFill>
                  <a:srgbClr val="6B705C"/>
                </a:solidFill>
                <a:latin typeface="Microsoft YaHei"/>
              </a:defRPr>
            </a:pPr>
            <a:r>
              <a:t>存储表：recall_results</a:t>
            </a:r>
          </a:p>
          <a:p>
            <a:pPr>
              <a:spcAft>
                <a:spcPts val="650"/>
              </a:spcAft>
              <a:defRPr sz="1300" b="0">
                <a:solidFill>
                  <a:srgbClr val="6B705C"/>
                </a:solidFill>
                <a:latin typeface="Microsoft YaHei"/>
              </a:defRPr>
            </a:pPr>
            <a:r>
              <a:t>字段：企业ID、标准地址ID、相似度分数</a:t>
            </a:r>
          </a:p>
          <a:p>
            <a:pPr>
              <a:spcAft>
                <a:spcPts val="650"/>
              </a:spcAft>
              <a:defRPr sz="1300" b="0">
                <a:solidFill>
                  <a:srgbClr val="6B705C"/>
                </a:solidFill>
                <a:latin typeface="Microsoft YaHei"/>
              </a:defRPr>
            </a:pPr>
            <a:r>
              <a:t>每个企业召回 Top-N (默认50) 候选</a:t>
            </a:r>
          </a:p>
          <a:p>
            <a:pPr>
              <a:spcAft>
                <a:spcPts val="650"/>
              </a:spcAft>
              <a:defRPr sz="1300" b="0">
                <a:solidFill>
                  <a:srgbClr val="6B705C"/>
                </a:solidFill>
                <a:latin typeface="Microsoft YaHei"/>
              </a:defRPr>
            </a:pPr>
            <a:r>
              <a:t>支持自定义向量表名和多Schema隔离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4114800"/>
            <a:ext cx="530352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19088" y="6126480"/>
            <a:ext cx="5266944" cy="27432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0" y="4114800"/>
            <a:ext cx="5303520" cy="45720"/>
          </a:xfrm>
          <a:prstGeom prst="rect">
            <a:avLst/>
          </a:prstGeom>
          <a:solidFill>
            <a:srgbClr val="C87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400" y="42976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8795C"/>
                </a:solidFill>
                <a:latin typeface="Microsoft YaHei"/>
              </a:defRPr>
            </a:pPr>
            <a:r>
              <a:t>⚡ 性能特性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4709160"/>
            <a:ext cx="48463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50"/>
              </a:spcAft>
              <a:defRPr sz="1300" b="0">
                <a:solidFill>
                  <a:srgbClr val="6B705C"/>
                </a:solidFill>
                <a:latin typeface="Microsoft YaHei"/>
              </a:defRPr>
            </a:pPr>
            <a:r>
              <a:t>• 批量向量化：1000条/批次入库</a:t>
            </a:r>
          </a:p>
          <a:p>
            <a:pPr>
              <a:spcAft>
                <a:spcPts val="650"/>
              </a:spcAft>
              <a:defRPr sz="1300" b="0">
                <a:solidFill>
                  <a:srgbClr val="6B705C"/>
                </a:solidFill>
                <a:latin typeface="Microsoft YaHei"/>
              </a:defRPr>
            </a:pPr>
            <a:r>
              <a:t>• IVFFlat 索引加速相似度计算</a:t>
            </a:r>
          </a:p>
          <a:p>
            <a:pPr>
              <a:spcAft>
                <a:spcPts val="650"/>
              </a:spcAft>
              <a:defRPr sz="1300" b="0">
                <a:solidFill>
                  <a:srgbClr val="6B705C"/>
                </a:solidFill>
                <a:latin typeface="Microsoft YaHei"/>
              </a:defRPr>
            </a:pPr>
            <a:r>
              <a:t>• 支持多表并行向量化处理</a:t>
            </a:r>
          </a:p>
          <a:p>
            <a:pPr>
              <a:spcAft>
                <a:spcPts val="650"/>
              </a:spcAft>
              <a:defRPr sz="1300" b="0">
                <a:solidFill>
                  <a:srgbClr val="6B705C"/>
                </a:solidFill>
                <a:latin typeface="Microsoft YaHei"/>
              </a:defRPr>
            </a:pPr>
            <a:r>
              <a:t>• 向量表按创建时间倒序管理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05C"/>
                </a:solidFill>
                <a:latin typeface="Microsoft YaHei"/>
              </a:defRPr>
            </a:pPr>
            <a:r>
              <a:t>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83680"/>
            <a:ext cx="12191695" cy="36576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54864" cy="54864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4332"/>
                </a:solidFill>
                <a:latin typeface="Microsoft YaHei"/>
              </a:defRPr>
            </a:pPr>
            <a:r>
              <a:t>精排阶段详解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05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05C"/>
                </a:solidFill>
                <a:latin typeface="Microsoft YaHei"/>
              </a:defRPr>
            </a:pPr>
            <a:r>
              <a:t>STAGE 2: FINE RANKING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3035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9808" y="3657600"/>
            <a:ext cx="5266944" cy="27432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828800"/>
            <a:ext cx="5303520" cy="4572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6A4F"/>
                </a:solidFill>
                <a:latin typeface="Microsoft YaHei"/>
              </a:defRPr>
            </a:pPr>
            <a:r>
              <a:t>🤖 MGeo 精排模型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423160"/>
            <a:ext cx="48463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50"/>
              </a:spcAft>
              <a:defRPr sz="1300" b="0">
                <a:solidFill>
                  <a:srgbClr val="6B705C"/>
                </a:solidFill>
                <a:latin typeface="Microsoft YaHei"/>
              </a:defRPr>
            </a:pPr>
            <a:r>
              <a:t>模型：iic/mgeo_geographic_entity_alignment_chinese_base</a:t>
            </a:r>
          </a:p>
          <a:p>
            <a:pPr>
              <a:spcAft>
                <a:spcPts val="650"/>
              </a:spcAft>
              <a:defRPr sz="1300" b="0">
                <a:solidFill>
                  <a:srgbClr val="6B705C"/>
                </a:solidFill>
                <a:latin typeface="Microsoft YaHei"/>
              </a:defRPr>
            </a:pPr>
            <a:r>
              <a:t>架构：BERT-based 序列分类模型</a:t>
            </a:r>
          </a:p>
          <a:p>
            <a:pPr>
              <a:spcAft>
                <a:spcPts val="650"/>
              </a:spcAft>
              <a:defRPr sz="1300" b="0">
                <a:solidFill>
                  <a:srgbClr val="6B705C"/>
                </a:solidFill>
                <a:latin typeface="Microsoft YaHei"/>
              </a:defRPr>
            </a:pPr>
            <a:r>
              <a:t>输出：3标签概率 (exact_match, partial_match, not_match)</a:t>
            </a:r>
          </a:p>
          <a:p>
            <a:pPr>
              <a:spcAft>
                <a:spcPts val="650"/>
              </a:spcAft>
              <a:defRPr sz="1300" b="1">
                <a:solidFill>
                  <a:srgbClr val="C8795C"/>
                </a:solidFill>
                <a:latin typeface="Microsoft YaHei"/>
              </a:defRPr>
            </a:pPr>
            <a:r>
              <a:t>约束：必须指定 num_labels=3，否则维度不匹配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828800"/>
            <a:ext cx="53035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19088" y="3657600"/>
            <a:ext cx="5266944" cy="27432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828800"/>
            <a:ext cx="5303520" cy="4572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20116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2B788"/>
                </a:solidFill>
                <a:latin typeface="Microsoft YaHei"/>
              </a:defRPr>
            </a:pPr>
            <a:r>
              <a:t>📊 排序与决策逻辑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423160"/>
            <a:ext cx="48463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50"/>
              </a:spcAft>
              <a:defRPr sz="1300" b="0">
                <a:solidFill>
                  <a:srgbClr val="6B705C"/>
                </a:solidFill>
                <a:latin typeface="Microsoft YaHei"/>
              </a:defRPr>
            </a:pPr>
            <a:r>
              <a:t>主排序：exact_match 概率降序</a:t>
            </a:r>
          </a:p>
          <a:p>
            <a:pPr>
              <a:spcAft>
                <a:spcPts val="650"/>
              </a:spcAft>
              <a:defRPr sz="1300" b="0">
                <a:solidFill>
                  <a:srgbClr val="6B705C"/>
                </a:solidFill>
                <a:latin typeface="Microsoft YaHei"/>
              </a:defRPr>
            </a:pPr>
            <a:r>
              <a:t>次排序：not_match 概率升序</a:t>
            </a:r>
          </a:p>
          <a:p>
            <a:pPr>
              <a:spcAft>
                <a:spcPts val="650"/>
              </a:spcAft>
              <a:defRPr sz="1300" b="0">
                <a:solidFill>
                  <a:srgbClr val="6B705C"/>
                </a:solidFill>
                <a:latin typeface="Microsoft YaHei"/>
              </a:defRPr>
            </a:pPr>
            <a:r>
              <a:t>匹配判定：取三个概率中最大值</a:t>
            </a:r>
          </a:p>
          <a:p>
            <a:pPr>
              <a:spcAft>
                <a:spcPts val="650"/>
              </a:spcAft>
              <a:defRPr sz="1300" b="0">
                <a:solidFill>
                  <a:srgbClr val="6B705C"/>
                </a:solidFill>
                <a:latin typeface="Microsoft YaHei"/>
              </a:defRPr>
            </a:pPr>
            <a:r>
              <a:t>无候选 → 直接判定为不匹配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931920"/>
            <a:ext cx="530352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9808" y="5943600"/>
            <a:ext cx="5266944" cy="27432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3931920"/>
            <a:ext cx="5303520" cy="4572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1148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4332"/>
                </a:solidFill>
                <a:latin typeface="Microsoft YaHei"/>
              </a:defRPr>
            </a:pPr>
            <a:r>
              <a:t>🏷️ 标签映射关系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526280"/>
            <a:ext cx="48463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50"/>
              </a:spcAft>
              <a:defRPr sz="1300" b="1">
                <a:solidFill>
                  <a:srgbClr val="2D6A4F"/>
                </a:solidFill>
                <a:latin typeface="Microsoft YaHei"/>
              </a:defRPr>
            </a:pPr>
            <a:r>
              <a:t>索引 0 → exact_match (精确匹配概率)</a:t>
            </a:r>
          </a:p>
          <a:p>
            <a:pPr>
              <a:spcAft>
                <a:spcPts val="650"/>
              </a:spcAft>
              <a:defRPr sz="1300" b="1">
                <a:solidFill>
                  <a:srgbClr val="C8795C"/>
                </a:solidFill>
                <a:latin typeface="Microsoft YaHei"/>
              </a:defRPr>
            </a:pPr>
            <a:r>
              <a:t>索引 1 → not_match (不匹配概率)</a:t>
            </a:r>
          </a:p>
          <a:p>
            <a:pPr>
              <a:spcAft>
                <a:spcPts val="650"/>
              </a:spcAft>
              <a:defRPr sz="1300" b="1">
                <a:solidFill>
                  <a:srgbClr val="8B6914"/>
                </a:solidFill>
                <a:latin typeface="Microsoft YaHei"/>
              </a:defRPr>
            </a:pPr>
            <a:r>
              <a:t>索引 2 → partial_match (部分匹配概率)</a:t>
            </a:r>
          </a:p>
          <a:p>
            <a:pPr>
              <a:spcAft>
                <a:spcPts val="650"/>
              </a:spcAft>
              <a:defRPr sz="1300" b="0">
                <a:solidFill>
                  <a:srgbClr val="6B705C"/>
                </a:solidFill>
                <a:latin typeface="Microsoft YaHei"/>
              </a:defRPr>
            </a:pPr>
            <a:r>
              <a:t>判定：取最大值所在索引确定匹配状态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3931920"/>
            <a:ext cx="530352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19088" y="5943600"/>
            <a:ext cx="5266944" cy="27432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0" y="3931920"/>
            <a:ext cx="5303520" cy="45720"/>
          </a:xfrm>
          <a:prstGeom prst="rect">
            <a:avLst/>
          </a:prstGeom>
          <a:solidFill>
            <a:srgbClr val="3E2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400" y="41148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E2723"/>
                </a:solidFill>
                <a:latin typeface="Microsoft YaHei"/>
              </a:defRPr>
            </a:pPr>
            <a:r>
              <a:t>✅ 人工纠正机制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4526280"/>
            <a:ext cx="48463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50"/>
              </a:spcAft>
              <a:defRPr sz="1300" b="0">
                <a:solidFill>
                  <a:srgbClr val="6B705C"/>
                </a:solidFill>
                <a:latin typeface="Microsoft YaHei"/>
              </a:defRPr>
            </a:pPr>
            <a:r>
              <a:t>correction_source 字段标识纠正来源</a:t>
            </a:r>
          </a:p>
          <a:p>
            <a:pPr>
              <a:spcAft>
                <a:spcPts val="650"/>
              </a:spcAft>
              <a:defRPr sz="1300" b="0">
                <a:solidFill>
                  <a:srgbClr val="6B705C"/>
                </a:solidFill>
                <a:latin typeface="Microsoft YaHei"/>
              </a:defRPr>
            </a:pPr>
            <a:r>
              <a:t>自动匹配 → "自动匹配"</a:t>
            </a:r>
          </a:p>
          <a:p>
            <a:pPr>
              <a:spcAft>
                <a:spcPts val="650"/>
              </a:spcAft>
              <a:defRPr sz="1300" b="0">
                <a:solidFill>
                  <a:srgbClr val="6B705C"/>
                </a:solidFill>
                <a:latin typeface="Microsoft YaHei"/>
              </a:defRPr>
            </a:pPr>
            <a:r>
              <a:t>人工纠正 → "人工纠正" + exact_match=1.0</a:t>
            </a:r>
          </a:p>
          <a:p>
            <a:pPr>
              <a:spcAft>
                <a:spcPts val="650"/>
              </a:spcAft>
              <a:defRPr sz="1300" b="0">
                <a:solidFill>
                  <a:srgbClr val="6B705C"/>
                </a:solidFill>
                <a:latin typeface="Microsoft YaHei"/>
              </a:defRPr>
            </a:pPr>
            <a:r>
              <a:t>系统启动时自动检测旧表并迁移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05C"/>
                </a:solidFill>
                <a:latin typeface="Microsoft YaHei"/>
              </a:defRPr>
            </a:pPr>
            <a:r>
              <a:t>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83680"/>
            <a:ext cx="12191695" cy="36576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54864" cy="54864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4332"/>
                </a:solidFill>
                <a:latin typeface="Microsoft YaHei"/>
              </a:defRPr>
            </a:pPr>
            <a:r>
              <a:t>模型加载策略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05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05C"/>
                </a:solidFill>
                <a:latin typeface="Microsoft YaHei"/>
              </a:defRPr>
            </a:pPr>
            <a:r>
              <a:t>MODEL LOADING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4332"/>
                </a:solidFill>
                <a:latin typeface="Microsoft YaHei"/>
              </a:defRPr>
            </a:pPr>
            <a:r>
              <a:t>🔍 多路径自动搜索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377440"/>
            <a:ext cx="1645920" cy="411480"/>
          </a:xfrm>
          <a:prstGeom prst="round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4231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优先级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4231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05C"/>
                </a:solidFill>
                <a:latin typeface="Microsoft YaHei"/>
              </a:defRPr>
            </a:pPr>
            <a:r>
              <a:t>项目目录 models/iic/...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017520"/>
            <a:ext cx="1645920" cy="41148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0632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优先级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30632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05C"/>
                </a:solidFill>
                <a:latin typeface="Microsoft YaHei"/>
              </a:defRPr>
            </a:pPr>
            <a:r>
              <a:t>ModelScope 缓存 (~/.cache/modelscope/...)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657600"/>
            <a:ext cx="1645920" cy="411480"/>
          </a:xfrm>
          <a:prstGeom prst="round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7033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优先级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7033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05C"/>
                </a:solidFill>
                <a:latin typeface="Microsoft YaHei"/>
              </a:defRPr>
            </a:pPr>
            <a:r>
              <a:t>HuggingFace 缓存 (~/.cache/huggingface/...)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297679"/>
            <a:ext cx="1645920" cy="411480"/>
          </a:xfrm>
          <a:prstGeom prst="roundRect">
            <a:avLst/>
          </a:prstGeom>
          <a:solidFill>
            <a:srgbClr val="6B7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343399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优先级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4343399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05C"/>
                </a:solidFill>
                <a:latin typeface="Microsoft YaHei"/>
              </a:defRPr>
            </a:pPr>
            <a:r>
              <a:t>在线下载 (ModelScope → Transformers)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4572000"/>
            <a:ext cx="530352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19088" y="6217920"/>
            <a:ext cx="5266944" cy="27432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4572000"/>
            <a:ext cx="5303520" cy="4572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47548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6A4F"/>
                </a:solidFill>
                <a:latin typeface="Microsoft YaHei"/>
              </a:defRPr>
            </a:pPr>
            <a:r>
              <a:t>🖥️ GPU 自动检测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5166360"/>
            <a:ext cx="4846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50"/>
              </a:spcAft>
              <a:defRPr sz="1300" b="0">
                <a:solidFill>
                  <a:srgbClr val="6B705C"/>
                </a:solidFill>
                <a:latin typeface="Microsoft YaHei"/>
              </a:defRPr>
            </a:pPr>
            <a:r>
              <a:t>• torch.cuda.is_available() → PyTorch CUDA 检测</a:t>
            </a:r>
          </a:p>
          <a:p>
            <a:pPr>
              <a:spcAft>
                <a:spcPts val="650"/>
              </a:spcAft>
              <a:defRPr sz="1300" b="0">
                <a:solidFill>
                  <a:srgbClr val="6B705C"/>
                </a:solidFill>
                <a:latin typeface="Microsoft YaHei"/>
              </a:defRPr>
            </a:pPr>
            <a:r>
              <a:t>• nvidia-smi → 系统级 NVIDIA 驱动检测</a:t>
            </a:r>
          </a:p>
          <a:p>
            <a:pPr>
              <a:spcAft>
                <a:spcPts val="650"/>
              </a:spcAft>
              <a:defRPr sz="1300" b="0">
                <a:solidFill>
                  <a:srgbClr val="6B705C"/>
                </a:solidFill>
                <a:latin typeface="Microsoft YaHei"/>
              </a:defRPr>
            </a:pPr>
            <a:r>
              <a:t>• torch.backends.cuda.is_built() → 编译版本检测</a:t>
            </a:r>
          </a:p>
          <a:p>
            <a:pPr>
              <a:spcAft>
                <a:spcPts val="650"/>
              </a:spcAft>
              <a:defRPr sz="1300" b="0">
                <a:solidFill>
                  <a:srgbClr val="C8795C"/>
                </a:solidFill>
                <a:latin typeface="Microsoft YaHei"/>
              </a:defRPr>
            </a:pPr>
            <a:r>
              <a:t>• CPU 版本 + 独立显卡 → 警告提示安装 CUDA 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572000"/>
            <a:ext cx="530352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49808" y="6217920"/>
            <a:ext cx="5266944" cy="27432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0" y="4572000"/>
            <a:ext cx="5303520" cy="4572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47548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2B788"/>
                </a:solidFill>
                <a:latin typeface="Microsoft YaHei"/>
              </a:defRPr>
            </a:pPr>
            <a:r>
              <a:t>🔧 兼容性处理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5166360"/>
            <a:ext cx="4846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50"/>
              </a:spcAft>
              <a:defRPr sz="1300" b="0">
                <a:solidFill>
                  <a:srgbClr val="6B705C"/>
                </a:solidFill>
                <a:latin typeface="Microsoft YaHei"/>
              </a:defRPr>
            </a:pPr>
            <a:r>
              <a:t>• 加载库优先级：modelscope → transformers</a:t>
            </a:r>
          </a:p>
          <a:p>
            <a:pPr>
              <a:spcAft>
                <a:spcPts val="650"/>
              </a:spcAft>
              <a:defRPr sz="1300" b="0">
                <a:solidFill>
                  <a:srgbClr val="6B705C"/>
                </a:solidFill>
                <a:latin typeface="Microsoft YaHei"/>
              </a:defRPr>
            </a:pPr>
            <a:r>
              <a:t>• HuggingFace 加载需 trust_remote_code=True</a:t>
            </a:r>
          </a:p>
          <a:p>
            <a:pPr>
              <a:spcAft>
                <a:spcPts val="650"/>
              </a:spcAft>
              <a:defRPr sz="1300" b="0">
                <a:solidFill>
                  <a:srgbClr val="6B705C"/>
                </a:solidFill>
                <a:latin typeface="Microsoft YaHei"/>
              </a:defRPr>
            </a:pPr>
            <a:r>
              <a:t>• BERT 编码器键名映射：bert.text_encoder.* → bert.*</a:t>
            </a:r>
          </a:p>
          <a:p>
            <a:pPr>
              <a:spcAft>
                <a:spcPts val="650"/>
              </a:spcAft>
              <a:defRPr sz="1300" b="0">
                <a:solidFill>
                  <a:srgbClr val="6B705C"/>
                </a:solidFill>
                <a:latin typeface="Microsoft YaHei"/>
              </a:defRPr>
            </a:pPr>
            <a:r>
              <a:t>• 多路径回退确保各类环境正常运行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05C"/>
                </a:solidFill>
                <a:latin typeface="Microsoft YaHei"/>
              </a:defRPr>
            </a:pPr>
            <a:r>
              <a:t>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83680"/>
            <a:ext cx="12191695" cy="36576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54864" cy="54864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4332"/>
                </a:solidFill>
                <a:latin typeface="Microsoft YaHei"/>
              </a:defRPr>
            </a:pPr>
            <a:r>
              <a:t>数据库设计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05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05C"/>
                </a:solidFill>
                <a:latin typeface="Microsoft YaHei"/>
              </a:defRPr>
            </a:pPr>
            <a:r>
              <a:t>DATABASE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73152" cy="4572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4332"/>
                </a:solidFill>
                <a:latin typeface="Microsoft YaHei"/>
              </a:defRPr>
            </a:pPr>
            <a:r>
              <a:t>enterprise_vectors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0312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05C"/>
                </a:solidFill>
                <a:latin typeface="Microsoft YaHei"/>
              </a:defRPr>
            </a:pPr>
            <a:r>
              <a:t>企业地址向量表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9202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05C"/>
                </a:solidFill>
                <a:latin typeface="Microsoft YaHei"/>
              </a:defRPr>
            </a:pPr>
            <a:r>
              <a:t>768维向量 + 企业地址字段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487168"/>
            <a:ext cx="73152" cy="45720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48716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4332"/>
                </a:solidFill>
                <a:latin typeface="Microsoft YaHei"/>
              </a:defRPr>
            </a:pPr>
            <a:r>
              <a:t>standard_address_vectors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761488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05C"/>
                </a:solidFill>
                <a:latin typeface="Microsoft YaHei"/>
              </a:defRPr>
            </a:pPr>
            <a:r>
              <a:t>标准地址向量表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257860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05C"/>
                </a:solidFill>
                <a:latin typeface="Microsoft YaHei"/>
              </a:defRPr>
            </a:pPr>
            <a:r>
              <a:t>768维向量 + 标准地址字段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145536"/>
            <a:ext cx="73152" cy="457200"/>
          </a:xfrm>
          <a:prstGeom prst="rect">
            <a:avLst/>
          </a:prstGeom>
          <a:solidFill>
            <a:srgbClr val="409C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14553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4332"/>
                </a:solidFill>
                <a:latin typeface="Microsoft YaHei"/>
              </a:defRPr>
            </a:pPr>
            <a:r>
              <a:t>recall_results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419856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05C"/>
                </a:solidFill>
                <a:latin typeface="Microsoft YaHei"/>
              </a:defRPr>
            </a:pPr>
            <a:r>
              <a:t>粗召回结果表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323697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05C"/>
                </a:solidFill>
                <a:latin typeface="Microsoft YaHei"/>
              </a:defRPr>
            </a:pPr>
            <a:r>
              <a:t>企业ID、候选地址ID、相似度分数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803904"/>
            <a:ext cx="73152" cy="457200"/>
          </a:xfrm>
          <a:prstGeom prst="rect">
            <a:avLst/>
          </a:prstGeom>
          <a:solidFill>
            <a:srgbClr val="C87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3803904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4332"/>
                </a:solidFill>
                <a:latin typeface="Microsoft YaHei"/>
              </a:defRPr>
            </a:pPr>
            <a:r>
              <a:t>match_results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078224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05C"/>
                </a:solidFill>
                <a:latin typeface="Microsoft YaHei"/>
              </a:defRPr>
            </a:pPr>
            <a:r>
              <a:t>精排匹配结果表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389534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05C"/>
                </a:solidFill>
                <a:latin typeface="Microsoft YaHei"/>
              </a:defRPr>
            </a:pPr>
            <a:r>
              <a:t>三分类概率、匹配状态、纠正来源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4462272"/>
            <a:ext cx="73152" cy="457200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446227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4332"/>
                </a:solidFill>
                <a:latin typeface="Microsoft YaHei"/>
              </a:defRPr>
            </a:pPr>
            <a:r>
              <a:t>mgeo_similarity_results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736592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05C"/>
                </a:solidFill>
                <a:latin typeface="Microsoft YaHei"/>
              </a:defRPr>
            </a:pPr>
            <a:r>
              <a:t>MGeo相似度结果表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455371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05C"/>
                </a:solidFill>
                <a:latin typeface="Microsoft YaHei"/>
              </a:defRPr>
            </a:pPr>
            <a:r>
              <a:t>独立地址相似度匹配输出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5120640"/>
            <a:ext cx="73152" cy="457200"/>
          </a:xfrm>
          <a:prstGeom prst="rect">
            <a:avLst/>
          </a:prstGeom>
          <a:solidFill>
            <a:srgbClr val="6B7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51206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4332"/>
                </a:solidFill>
                <a:latin typeface="Microsoft YaHei"/>
              </a:defRPr>
            </a:pPr>
            <a:r>
              <a:t>match_tags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539496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05C"/>
                </a:solidFill>
                <a:latin typeface="Microsoft YaHei"/>
              </a:defRPr>
            </a:pPr>
            <a:r>
              <a:t>标签配置表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52120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05C"/>
                </a:solidFill>
                <a:latin typeface="Microsoft YaHei"/>
              </a:defRPr>
            </a:pPr>
            <a:r>
              <a:t>多任务标签隔离管理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5779008"/>
            <a:ext cx="73152" cy="457200"/>
          </a:xfrm>
          <a:prstGeom prst="rect">
            <a:avLst/>
          </a:prstGeom>
          <a:solidFill>
            <a:srgbClr val="8B7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577900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4332"/>
                </a:solidFill>
                <a:latin typeface="Microsoft YaHei"/>
              </a:defRPr>
            </a:pPr>
            <a:r>
              <a:t>app_log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6053328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05C"/>
                </a:solidFill>
                <a:latin typeface="Microsoft YaHei"/>
              </a:defRPr>
            </a:pPr>
            <a:r>
              <a:t>应用日志表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0" y="587044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05C"/>
                </a:solidFill>
                <a:latin typeface="Microsoft YaHei"/>
              </a:defRPr>
            </a:pPr>
            <a:r>
              <a:t>系统运行日志持久化存储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0" y="1828800"/>
            <a:ext cx="438912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333488" y="6400800"/>
            <a:ext cx="4352544" cy="27432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315200" y="1828800"/>
            <a:ext cx="4389120" cy="4572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43800" y="201168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4332"/>
                </a:solidFill>
                <a:latin typeface="Microsoft YaHei"/>
              </a:defRPr>
            </a:pPr>
            <a:r>
              <a:t>⚙️ 数据库特性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43800" y="2423160"/>
            <a:ext cx="393192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50"/>
              </a:spcAft>
              <a:defRPr sz="1300" b="1">
                <a:solidFill>
                  <a:srgbClr val="2D6A4F"/>
                </a:solidFill>
                <a:latin typeface="Microsoft YaHei"/>
              </a:defRPr>
            </a:pPr>
            <a:r>
              <a:t>🔒 多Schema隔离</a:t>
            </a:r>
          </a:p>
          <a:p>
            <a:pPr>
              <a:spcAft>
                <a:spcPts val="550"/>
              </a:spcAft>
              <a:defRPr sz="1100" b="0">
                <a:solidFill>
                  <a:srgbClr val="6B705C"/>
                </a:solidFill>
                <a:latin typeface="Microsoft YaHei"/>
              </a:defRPr>
            </a:pPr>
            <a:r>
              <a:t>  SET search_path TO "schema", public</a:t>
            </a:r>
          </a:p>
          <a:p>
            <a:pPr>
              <a:spcAft>
                <a:spcPts val="550"/>
              </a:spcAft>
              <a:defRPr sz="1100" b="0">
                <a:solidFill>
                  <a:srgbClr val="6B705C"/>
                </a:solidFill>
                <a:latin typeface="Microsoft YaHei"/>
              </a:defRPr>
            </a:pPr>
            <a:r>
              <a:t>  quote_identifier() 支持中文表名</a:t>
            </a:r>
          </a:p>
          <a:p>
            <a:pPr>
              <a:spcAft>
                <a:spcPts val="400"/>
              </a:spcAft>
              <a:defRPr sz="800" b="0">
                <a:solidFill>
                  <a:srgbClr val="6B705C"/>
                </a:solidFill>
                <a:latin typeface="Microsoft YaHei"/>
              </a:defRPr>
            </a:pPr>
          </a:p>
          <a:p>
            <a:pPr>
              <a:spcAft>
                <a:spcPts val="650"/>
              </a:spcAft>
              <a:defRPr sz="1300" b="1">
                <a:solidFill>
                  <a:srgbClr val="52B788"/>
                </a:solidFill>
                <a:latin typeface="Microsoft YaHei"/>
              </a:defRPr>
            </a:pPr>
            <a:r>
              <a:t>📊 pgvector 扩展</a:t>
            </a:r>
          </a:p>
          <a:p>
            <a:pPr>
              <a:spcAft>
                <a:spcPts val="550"/>
              </a:spcAft>
              <a:defRPr sz="1100" b="0">
                <a:solidFill>
                  <a:srgbClr val="6B705C"/>
                </a:solidFill>
                <a:latin typeface="Microsoft YaHei"/>
              </a:defRPr>
            </a:pPr>
            <a:r>
              <a:t>  IVFFlat 向量索引加速</a:t>
            </a:r>
          </a:p>
          <a:p>
            <a:pPr>
              <a:spcAft>
                <a:spcPts val="550"/>
              </a:spcAft>
              <a:defRPr sz="1100" b="0">
                <a:solidFill>
                  <a:srgbClr val="6B705C"/>
                </a:solidFill>
                <a:latin typeface="Microsoft YaHei"/>
              </a:defRPr>
            </a:pPr>
            <a:r>
              <a:t>  LATERAL JOIN 批量检索</a:t>
            </a:r>
          </a:p>
          <a:p>
            <a:pPr>
              <a:spcAft>
                <a:spcPts val="550"/>
              </a:spcAft>
              <a:defRPr sz="1100" b="0">
                <a:solidFill>
                  <a:srgbClr val="6B705C"/>
                </a:solidFill>
                <a:latin typeface="Microsoft YaHei"/>
              </a:defRPr>
            </a:pPr>
            <a:r>
              <a:t>  cosine_distance 相似度计算</a:t>
            </a:r>
          </a:p>
          <a:p>
            <a:pPr>
              <a:spcAft>
                <a:spcPts val="400"/>
              </a:spcAft>
              <a:defRPr sz="800" b="0">
                <a:solidFill>
                  <a:srgbClr val="6B705C"/>
                </a:solidFill>
                <a:latin typeface="Microsoft YaHei"/>
              </a:defRPr>
            </a:pPr>
          </a:p>
          <a:p>
            <a:pPr>
              <a:spcAft>
                <a:spcPts val="650"/>
              </a:spcAft>
              <a:defRPr sz="1300" b="1">
                <a:solidFill>
                  <a:srgbClr val="C8795C"/>
                </a:solidFill>
                <a:latin typeface="Microsoft YaHei"/>
              </a:defRPr>
            </a:pPr>
            <a:r>
              <a:t>🔄 自动迁移</a:t>
            </a:r>
          </a:p>
          <a:p>
            <a:pPr>
              <a:spcAft>
                <a:spcPts val="550"/>
              </a:spcAft>
              <a:defRPr sz="1100" b="0">
                <a:solidFill>
                  <a:srgbClr val="6B705C"/>
                </a:solidFill>
                <a:latin typeface="Microsoft YaHei"/>
              </a:defRPr>
            </a:pPr>
            <a:r>
              <a:t>  启动时检测旧表自动添加新字段</a:t>
            </a:r>
          </a:p>
          <a:p>
            <a:pPr>
              <a:spcAft>
                <a:spcPts val="550"/>
              </a:spcAft>
              <a:defRPr sz="1100" b="0">
                <a:solidFill>
                  <a:srgbClr val="6B705C"/>
                </a:solidFill>
                <a:latin typeface="Microsoft YaHei"/>
              </a:defRPr>
            </a:pPr>
            <a:r>
              <a:t>  向量表按创建时间倒序管理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05C"/>
                </a:solidFill>
                <a:latin typeface="Microsoft YaHei"/>
              </a:defRPr>
            </a:pPr>
            <a:r>
              <a:t>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83680"/>
            <a:ext cx="12191695" cy="36576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54864" cy="54864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4332"/>
                </a:solidFill>
                <a:latin typeface="Microsoft YaHei"/>
              </a:defRPr>
            </a:pPr>
            <a:r>
              <a:t>Streamlit 核心功能模块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05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05C"/>
                </a:solidFill>
                <a:latin typeface="Microsoft YaHei"/>
              </a:defRPr>
            </a:pPr>
            <a:r>
              <a:t>CORE FEATURES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3474720" cy="4572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D6A4F"/>
                </a:solidFill>
                <a:latin typeface="Microsoft YaHei"/>
              </a:defRPr>
            </a:pPr>
            <a:r>
              <a:t>🗄️ 数据库配置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1460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6B705C"/>
                </a:solidFill>
                <a:latin typeface="Microsoft YaHei"/>
              </a:defRPr>
            </a:pPr>
            <a:r>
              <a:t>PostgreSQL连接参数配置</a:t>
            </a:r>
          </a:p>
          <a:p>
            <a:pPr>
              <a:spcAft>
                <a:spcPts val="600"/>
              </a:spcAft>
              <a:defRPr sz="1200" b="0">
                <a:solidFill>
                  <a:srgbClr val="6B705C"/>
                </a:solidFill>
                <a:latin typeface="Microsoft YaHei"/>
              </a:defRPr>
            </a:pPr>
            <a:r>
              <a:t>Schema选择与管理</a:t>
            </a:r>
          </a:p>
          <a:p>
            <a:pPr>
              <a:spcAft>
                <a:spcPts val="600"/>
              </a:spcAft>
              <a:defRPr sz="1200" b="0">
                <a:solidFill>
                  <a:srgbClr val="6B705C"/>
                </a:solidFill>
                <a:latin typeface="Microsoft YaHei"/>
              </a:defRPr>
            </a:pPr>
            <a:r>
              <a:t>连接状态检测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1828800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59" y="1828800"/>
            <a:ext cx="3474720" cy="4572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39" y="20116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52B788"/>
                </a:solidFill>
                <a:latin typeface="Microsoft YaHei"/>
              </a:defRPr>
            </a:pPr>
            <a:r>
              <a:t>🔧 向量预处理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39" y="251460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6B705C"/>
                </a:solidFill>
                <a:latin typeface="Microsoft YaHei"/>
              </a:defRPr>
            </a:pPr>
            <a:r>
              <a:t>企业/标准地址表选择</a:t>
            </a:r>
          </a:p>
          <a:p>
            <a:pPr>
              <a:spcAft>
                <a:spcPts val="600"/>
              </a:spcAft>
              <a:defRPr sz="1200" b="0">
                <a:solidFill>
                  <a:srgbClr val="6B705C"/>
                </a:solidFill>
                <a:latin typeface="Microsoft YaHei"/>
              </a:defRPr>
            </a:pPr>
            <a:r>
              <a:t>字段映射配置</a:t>
            </a:r>
          </a:p>
          <a:p>
            <a:pPr>
              <a:spcAft>
                <a:spcPts val="600"/>
              </a:spcAft>
              <a:defRPr sz="1200" b="0">
                <a:solidFill>
                  <a:srgbClr val="6B705C"/>
                </a:solidFill>
                <a:latin typeface="Microsoft YaHei"/>
              </a:defRPr>
            </a:pPr>
            <a:r>
              <a:t>向量表创建与管理</a:t>
            </a:r>
          </a:p>
          <a:p>
            <a:pPr>
              <a:spcAft>
                <a:spcPts val="600"/>
              </a:spcAft>
              <a:defRPr sz="1200" b="0">
                <a:solidFill>
                  <a:srgbClr val="6B705C"/>
                </a:solidFill>
                <a:latin typeface="Microsoft YaHei"/>
              </a:defRPr>
            </a:pPr>
            <a:r>
              <a:t>批量向量化执行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828800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828800"/>
            <a:ext cx="3474720" cy="45720"/>
          </a:xfrm>
          <a:prstGeom prst="rect">
            <a:avLst/>
          </a:prstGeom>
          <a:solidFill>
            <a:srgbClr val="C87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20116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C8795C"/>
                </a:solidFill>
                <a:latin typeface="Microsoft YaHei"/>
              </a:defRPr>
            </a:pPr>
            <a:r>
              <a:t>🎯 地址匹配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51460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6B705C"/>
                </a:solidFill>
                <a:latin typeface="Microsoft YaHei"/>
              </a:defRPr>
            </a:pPr>
            <a:r>
              <a:t>两阶段匹配流程编排</a:t>
            </a:r>
          </a:p>
          <a:p>
            <a:pPr>
              <a:spcAft>
                <a:spcPts val="600"/>
              </a:spcAft>
              <a:defRPr sz="1200" b="0">
                <a:solidFill>
                  <a:srgbClr val="6B705C"/>
                </a:solidFill>
                <a:latin typeface="Microsoft YaHei"/>
              </a:defRPr>
            </a:pPr>
            <a:r>
              <a:t>进度可视化跟踪</a:t>
            </a:r>
          </a:p>
          <a:p>
            <a:pPr>
              <a:spcAft>
                <a:spcPts val="600"/>
              </a:spcAft>
              <a:defRPr sz="1200" b="0">
                <a:solidFill>
                  <a:srgbClr val="6B705C"/>
                </a:solidFill>
                <a:latin typeface="Microsoft YaHei"/>
              </a:defRPr>
            </a:pPr>
            <a:r>
              <a:t>批量匹配与结果存储</a:t>
            </a:r>
          </a:p>
          <a:p>
            <a:pPr>
              <a:spcAft>
                <a:spcPts val="600"/>
              </a:spcAft>
              <a:defRPr sz="1200" b="0">
                <a:solidFill>
                  <a:srgbClr val="6B705C"/>
                </a:solidFill>
                <a:latin typeface="Microsoft YaHei"/>
              </a:defRPr>
            </a:pPr>
            <a:r>
              <a:t>匹配统计概览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297680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4297680"/>
            <a:ext cx="3474720" cy="45720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4805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8B6914"/>
                </a:solidFill>
                <a:latin typeface="Microsoft YaHei"/>
              </a:defRPr>
            </a:pPr>
            <a:r>
              <a:t>📋 结果管理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98348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6B705C"/>
                </a:solidFill>
                <a:latin typeface="Microsoft YaHei"/>
              </a:defRPr>
            </a:pPr>
            <a:r>
              <a:t>匹配结果分页展示</a:t>
            </a:r>
          </a:p>
          <a:p>
            <a:pPr>
              <a:spcAft>
                <a:spcPts val="600"/>
              </a:spcAft>
              <a:defRPr sz="1200" b="0">
                <a:solidFill>
                  <a:srgbClr val="6B705C"/>
                </a:solidFill>
                <a:latin typeface="Microsoft YaHei"/>
              </a:defRPr>
            </a:pPr>
            <a:r>
              <a:t>多维度筛选搜索</a:t>
            </a:r>
          </a:p>
          <a:p>
            <a:pPr>
              <a:spcAft>
                <a:spcPts val="600"/>
              </a:spcAft>
              <a:defRPr sz="1200" b="0">
                <a:solidFill>
                  <a:srgbClr val="6B705C"/>
                </a:solidFill>
                <a:latin typeface="Microsoft YaHei"/>
              </a:defRPr>
            </a:pPr>
            <a:r>
              <a:t>人工纠正与标签管理</a:t>
            </a:r>
          </a:p>
          <a:p>
            <a:pPr>
              <a:spcAft>
                <a:spcPts val="600"/>
              </a:spcAft>
              <a:defRPr sz="1200" b="0">
                <a:solidFill>
                  <a:srgbClr val="6B705C"/>
                </a:solidFill>
                <a:latin typeface="Microsoft YaHei"/>
              </a:defRPr>
            </a:pPr>
            <a:r>
              <a:t>数据导出 (Excel/CSV)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59" y="4297680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59" y="4297680"/>
            <a:ext cx="3474720" cy="45720"/>
          </a:xfrm>
          <a:prstGeom prst="rect">
            <a:avLst/>
          </a:prstGeom>
          <a:solidFill>
            <a:srgbClr val="6B7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39" y="44805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6B705C"/>
                </a:solidFill>
                <a:latin typeface="Microsoft YaHei"/>
              </a:defRPr>
            </a:pPr>
            <a:r>
              <a:t>📝 系统日志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39" y="498348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6B705C"/>
                </a:solidFill>
                <a:latin typeface="Microsoft YaHei"/>
              </a:defRPr>
            </a:pPr>
            <a:r>
              <a:t>实时日志查看</a:t>
            </a:r>
          </a:p>
          <a:p>
            <a:pPr>
              <a:spcAft>
                <a:spcPts val="600"/>
              </a:spcAft>
              <a:defRPr sz="1200" b="0">
                <a:solidFill>
                  <a:srgbClr val="6B705C"/>
                </a:solidFill>
                <a:latin typeface="Microsoft YaHei"/>
              </a:defRPr>
            </a:pPr>
            <a:r>
              <a:t>日志级别过滤</a:t>
            </a:r>
          </a:p>
          <a:p>
            <a:pPr>
              <a:spcAft>
                <a:spcPts val="600"/>
              </a:spcAft>
              <a:defRPr sz="1200" b="0">
                <a:solidFill>
                  <a:srgbClr val="6B705C"/>
                </a:solidFill>
                <a:latin typeface="Microsoft YaHei"/>
              </a:defRPr>
            </a:pPr>
            <a:r>
              <a:t>向量调试测试</a:t>
            </a:r>
          </a:p>
          <a:p>
            <a:pPr>
              <a:spcAft>
                <a:spcPts val="600"/>
              </a:spcAft>
              <a:defRPr sz="1200" b="0">
                <a:solidFill>
                  <a:srgbClr val="6B705C"/>
                </a:solidFill>
                <a:latin typeface="Microsoft YaHei"/>
              </a:defRPr>
            </a:pPr>
            <a:r>
              <a:t>系统运行监控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4297680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4297680"/>
            <a:ext cx="3474720" cy="45720"/>
          </a:xfrm>
          <a:prstGeom prst="rect">
            <a:avLst/>
          </a:prstGeom>
          <a:solidFill>
            <a:srgbClr val="6B9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0" y="44805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6B9080"/>
                </a:solidFill>
                <a:latin typeface="Microsoft YaHei"/>
              </a:defRPr>
            </a:pPr>
            <a:r>
              <a:t>🏷️ 标签管理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498348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6B705C"/>
                </a:solidFill>
                <a:latin typeface="Microsoft YaHei"/>
              </a:defRPr>
            </a:pPr>
            <a:r>
              <a:t>多任务标签隔离</a:t>
            </a:r>
          </a:p>
          <a:p>
            <a:pPr>
              <a:spcAft>
                <a:spcPts val="600"/>
              </a:spcAft>
              <a:defRPr sz="1200" b="0">
                <a:solidFill>
                  <a:srgbClr val="6B705C"/>
                </a:solidFill>
                <a:latin typeface="Microsoft YaHei"/>
              </a:defRPr>
            </a:pPr>
            <a:r>
              <a:t>拼音自动转换</a:t>
            </a:r>
          </a:p>
          <a:p>
            <a:pPr>
              <a:spcAft>
                <a:spcPts val="600"/>
              </a:spcAft>
              <a:defRPr sz="1200" b="0">
                <a:solidFill>
                  <a:srgbClr val="6B705C"/>
                </a:solidFill>
                <a:latin typeface="Microsoft YaHei"/>
              </a:defRPr>
            </a:pPr>
            <a:r>
              <a:t>标签配置与切换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05C"/>
                </a:solidFill>
                <a:latin typeface="Microsoft YaHei"/>
              </a:defRPr>
            </a:pPr>
            <a:r>
              <a:t>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83680"/>
            <a:ext cx="12191695" cy="36576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54864" cy="54864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4332"/>
                </a:solidFill>
                <a:latin typeface="Microsoft YaHei"/>
              </a:defRPr>
            </a:pPr>
            <a:r>
              <a:t>关键技术优化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05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05C"/>
                </a:solidFill>
                <a:latin typeface="Microsoft YaHei"/>
              </a:defRPr>
            </a:pPr>
            <a:r>
              <a:t>KEY OPTIMIZATIONS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54864" cy="6858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6A4F"/>
                </a:solidFill>
                <a:latin typeface="Microsoft YaHei"/>
              </a:defRPr>
            </a:pPr>
            <a:r>
              <a:t>🔄 配置状态恢复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828800"/>
            <a:ext cx="74980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6B705C"/>
                </a:solidFill>
                <a:latin typeface="Microsoft YaHei"/>
              </a:defRPr>
            </a:pPr>
            <a:r>
              <a:t>创建向量表后页面刷新不丢失配置。</a:t>
            </a:r>
          </a:p>
          <a:p>
            <a:pPr>
              <a:spcAft>
                <a:spcPts val="600"/>
              </a:spcAft>
              <a:defRPr sz="1200" b="0">
                <a:solidFill>
                  <a:srgbClr val="6B705C"/>
                </a:solidFill>
                <a:latin typeface="Microsoft YaHei"/>
              </a:defRPr>
            </a:pPr>
            <a:r>
              <a:t>在 selectbox 渲染前从 vec_config 恢复 session_state，</a:t>
            </a:r>
          </a:p>
          <a:p>
            <a:pPr>
              <a:spcAft>
                <a:spcPts val="600"/>
              </a:spcAft>
              <a:defRPr sz="1200" b="0">
                <a:solidFill>
                  <a:srgbClr val="6B705C"/>
                </a:solidFill>
                <a:latin typeface="Microsoft YaHei"/>
              </a:defRPr>
            </a:pPr>
            <a:r>
              <a:t>移除不必要的 st.rerun() 调用。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633472"/>
            <a:ext cx="54864" cy="68580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63347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2B788"/>
                </a:solidFill>
                <a:latin typeface="Microsoft YaHei"/>
              </a:defRPr>
            </a:pPr>
            <a:r>
              <a:t>🎯 双重阈值过滤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633472"/>
            <a:ext cx="74980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6B705C"/>
                </a:solidFill>
                <a:latin typeface="Microsoft YaHei"/>
              </a:defRPr>
            </a:pPr>
            <a:r>
              <a:t>SIMILARITY_THRESHOLD 在粗召回(SQL)和精排(Python)</a:t>
            </a:r>
          </a:p>
          <a:p>
            <a:pPr>
              <a:spcAft>
                <a:spcPts val="600"/>
              </a:spcAft>
              <a:defRPr sz="1200" b="0">
                <a:solidFill>
                  <a:srgbClr val="6B705C"/>
                </a:solidFill>
                <a:latin typeface="Microsoft YaHei"/>
              </a:defRPr>
            </a:pPr>
            <a:r>
              <a:t>两个阶段同时生效，确保低相似度候选不遗漏过滤。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438144"/>
            <a:ext cx="54864" cy="685800"/>
          </a:xfrm>
          <a:prstGeom prst="rect">
            <a:avLst/>
          </a:prstGeom>
          <a:solidFill>
            <a:srgbClr val="C87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43814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8795C"/>
                </a:solidFill>
                <a:latin typeface="Microsoft YaHei"/>
              </a:defRPr>
            </a:pPr>
            <a:r>
              <a:t>📊 向量表管理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3438144"/>
            <a:ext cx="74980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6B705C"/>
                </a:solidFill>
                <a:latin typeface="Microsoft YaHei"/>
              </a:defRPr>
            </a:pPr>
            <a:r>
              <a:t>按创建时间倒序 (pg_class.oid DESC)，</a:t>
            </a:r>
          </a:p>
          <a:p>
            <a:pPr>
              <a:spcAft>
                <a:spcPts val="600"/>
              </a:spcAft>
              <a:defRPr sz="1200" b="0">
                <a:solidFill>
                  <a:srgbClr val="6B705C"/>
                </a:solidFill>
                <a:latin typeface="Microsoft YaHei"/>
              </a:defRPr>
            </a:pPr>
            <a:r>
              <a:t>分页显示每页6个，固定高度滚动容器防UI不对齐，</a:t>
            </a:r>
          </a:p>
          <a:p>
            <a:pPr>
              <a:spcAft>
                <a:spcPts val="600"/>
              </a:spcAft>
              <a:defRPr sz="1200" b="0">
                <a:solidFill>
                  <a:srgbClr val="6B705C"/>
                </a:solidFill>
                <a:latin typeface="Microsoft YaHei"/>
              </a:defRPr>
            </a:pPr>
            <a:r>
              <a:t>支持搜索、详情查看、清空、删除、重命名。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242816"/>
            <a:ext cx="54864" cy="685800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242816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6914"/>
                </a:solidFill>
                <a:latin typeface="Microsoft YaHei"/>
              </a:defRPr>
            </a:pPr>
            <a:r>
              <a:t>🔗 翻页回调机制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4242816"/>
            <a:ext cx="74980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6B705C"/>
                </a:solidFill>
                <a:latin typeface="Microsoft YaHei"/>
              </a:defRPr>
            </a:pPr>
            <a:r>
              <a:t>Streamlit on_click 回调函数 (_goto_page, _prev_page,</a:t>
            </a:r>
          </a:p>
          <a:p>
            <a:pPr>
              <a:spcAft>
                <a:spcPts val="600"/>
              </a:spcAft>
              <a:defRPr sz="1200" b="0">
                <a:solidFill>
                  <a:srgbClr val="6B705C"/>
                </a:solidFill>
                <a:latin typeface="Microsoft YaHei"/>
              </a:defRPr>
            </a:pPr>
            <a:r>
              <a:t>_next_page) 解决 session_state 绑定 widget 后</a:t>
            </a:r>
          </a:p>
          <a:p>
            <a:pPr>
              <a:spcAft>
                <a:spcPts val="600"/>
              </a:spcAft>
              <a:defRPr sz="1200" b="0">
                <a:solidFill>
                  <a:srgbClr val="6B705C"/>
                </a:solidFill>
                <a:latin typeface="Microsoft YaHei"/>
              </a:defRPr>
            </a:pPr>
            <a:r>
              <a:t>无法直接修改的问题。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5047488"/>
            <a:ext cx="54864" cy="685800"/>
          </a:xfrm>
          <a:prstGeom prst="rect">
            <a:avLst/>
          </a:prstGeom>
          <a:solidFill>
            <a:srgbClr val="6B7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04748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B705C"/>
                </a:solidFill>
                <a:latin typeface="Microsoft YaHei"/>
              </a:defRPr>
            </a:pPr>
            <a:r>
              <a:t>📝 批量数据处理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5047488"/>
            <a:ext cx="74980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6B705C"/>
                </a:solidFill>
                <a:latin typeface="Microsoft YaHei"/>
              </a:defRPr>
            </a:pPr>
            <a:r>
              <a:t>数据库批量加载 (BATCH_SIZE_DB=1000)，</a:t>
            </a:r>
          </a:p>
          <a:p>
            <a:pPr>
              <a:spcAft>
                <a:spcPts val="600"/>
              </a:spcAft>
              <a:defRPr sz="1200" b="0">
                <a:solidFill>
                  <a:srgbClr val="6B705C"/>
                </a:solidFill>
                <a:latin typeface="Microsoft YaHei"/>
              </a:defRPr>
            </a:pPr>
            <a:r>
              <a:t>向量化批处理 (BATCH_SIZE_EMBEDDING=256 GPU)，</a:t>
            </a:r>
          </a:p>
          <a:p>
            <a:pPr>
              <a:spcAft>
                <a:spcPts val="600"/>
              </a:spcAft>
              <a:defRPr sz="1200" b="0">
                <a:solidFill>
                  <a:srgbClr val="6B705C"/>
                </a:solidFill>
                <a:latin typeface="Microsoft YaHei"/>
              </a:defRPr>
            </a:pPr>
            <a:r>
              <a:t>精排批处理 (BATCH_SIZE_MODEL=128 GPU)。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5852160"/>
            <a:ext cx="54864" cy="685800"/>
          </a:xfrm>
          <a:prstGeom prst="rect">
            <a:avLst/>
          </a:prstGeom>
          <a:solidFill>
            <a:srgbClr val="6B9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8521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B9080"/>
                </a:solidFill>
                <a:latin typeface="Microsoft YaHei"/>
              </a:defRPr>
            </a:pPr>
            <a:r>
              <a:t>🔤 编码自动检测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5852160"/>
            <a:ext cx="74980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6B705C"/>
                </a:solidFill>
                <a:latin typeface="Microsoft YaHei"/>
              </a:defRPr>
            </a:pPr>
            <a:r>
              <a:t>CSV文件上传自动检测编码格式：</a:t>
            </a:r>
          </a:p>
          <a:p>
            <a:pPr>
              <a:spcAft>
                <a:spcPts val="600"/>
              </a:spcAft>
              <a:defRPr sz="1200" b="0">
                <a:solidFill>
                  <a:srgbClr val="6B705C"/>
                </a:solidFill>
                <a:latin typeface="Microsoft YaHei"/>
              </a:defRPr>
            </a:pPr>
            <a:r>
              <a:t>utf-8-sig → utf-8 → gbk → gb2312 → gb18030 → latin1</a:t>
            </a:r>
          </a:p>
          <a:p>
            <a:pPr>
              <a:spcAft>
                <a:spcPts val="600"/>
              </a:spcAft>
              <a:defRPr sz="1200" b="0">
                <a:solidFill>
                  <a:srgbClr val="6B705C"/>
                </a:solidFill>
                <a:latin typeface="Microsoft YaHei"/>
              </a:defRPr>
            </a:pPr>
            <a:r>
              <a:t>确保各类中文编码文件正常导入。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05C"/>
                </a:solidFill>
                <a:latin typeface="Microsoft YaHei"/>
              </a:defRPr>
            </a:pPr>
            <a:r>
              <a:t>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12191695" cy="73152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2468880"/>
            <a:ext cx="8534095" cy="27432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548640"/>
            <a:ext cx="94484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总结与展望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371600"/>
            <a:ext cx="9448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D8F3DC"/>
                </a:solidFill>
                <a:latin typeface="Microsoft YaHei"/>
              </a:defRPr>
            </a:pPr>
            <a:r>
              <a:t>SUMMARY &amp; OUTLOOK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17520"/>
            <a:ext cx="3474720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3017520"/>
            <a:ext cx="3474720" cy="4572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200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6A4F"/>
                </a:solidFill>
                <a:latin typeface="Microsoft YaHei"/>
              </a:defRPr>
            </a:pPr>
            <a:r>
              <a:t>🏆 技术成果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65760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6B705C"/>
                </a:solidFill>
                <a:latin typeface="Microsoft YaHei"/>
              </a:defRPr>
            </a:pPr>
            <a:r>
              <a:t>• 实现150万×1300万规模的</a:t>
            </a:r>
          </a:p>
          <a:p>
            <a:pPr>
              <a:spcAft>
                <a:spcPts val="600"/>
              </a:spcAft>
              <a:defRPr sz="1200" b="0">
                <a:solidFill>
                  <a:srgbClr val="6B705C"/>
                </a:solidFill>
                <a:latin typeface="Microsoft YaHei"/>
              </a:defRPr>
            </a:pPr>
            <a:r>
              <a:t>  地址语义匹配</a:t>
            </a:r>
          </a:p>
          <a:p>
            <a:pPr>
              <a:spcAft>
                <a:spcPts val="600"/>
              </a:spcAft>
              <a:defRPr sz="1200" b="0">
                <a:solidFill>
                  <a:srgbClr val="6B705C"/>
                </a:solidFill>
                <a:latin typeface="Microsoft YaHei"/>
              </a:defRPr>
            </a:pPr>
            <a:r>
              <a:t>• 两阶段架构兼顾效率精度</a:t>
            </a:r>
          </a:p>
          <a:p>
            <a:pPr>
              <a:spcAft>
                <a:spcPts val="600"/>
              </a:spcAft>
              <a:defRPr sz="1200" b="0">
                <a:solidFill>
                  <a:srgbClr val="6B705C"/>
                </a:solidFill>
                <a:latin typeface="Microsoft YaHei"/>
              </a:defRPr>
            </a:pPr>
            <a:r>
              <a:t>• pgvector 高效向量检索</a:t>
            </a:r>
          </a:p>
          <a:p>
            <a:pPr>
              <a:spcAft>
                <a:spcPts val="600"/>
              </a:spcAft>
              <a:defRPr sz="1200" b="0">
                <a:solidFill>
                  <a:srgbClr val="6B705C"/>
                </a:solidFill>
                <a:latin typeface="Microsoft YaHei"/>
              </a:defRPr>
            </a:pPr>
            <a:r>
              <a:t>• MGeo 精准中文地址理解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3017520"/>
            <a:ext cx="3474720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59" y="3017520"/>
            <a:ext cx="3474720" cy="4572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79" y="3200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2B788"/>
                </a:solidFill>
                <a:latin typeface="Microsoft YaHei"/>
              </a:defRPr>
            </a:pPr>
            <a:r>
              <a:t>⚡ 工程实践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79" y="365760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6B705C"/>
                </a:solidFill>
                <a:latin typeface="Microsoft YaHei"/>
              </a:defRPr>
            </a:pPr>
            <a:r>
              <a:t>• Streamlit 交互式Web应用</a:t>
            </a:r>
          </a:p>
          <a:p>
            <a:pPr>
              <a:spcAft>
                <a:spcPts val="600"/>
              </a:spcAft>
              <a:defRPr sz="1200" b="0">
                <a:solidFill>
                  <a:srgbClr val="6B705C"/>
                </a:solidFill>
                <a:latin typeface="Microsoft YaHei"/>
              </a:defRPr>
            </a:pPr>
            <a:r>
              <a:t>• 多Schema数据隔离</a:t>
            </a:r>
          </a:p>
          <a:p>
            <a:pPr>
              <a:spcAft>
                <a:spcPts val="600"/>
              </a:spcAft>
              <a:defRPr sz="1200" b="0">
                <a:solidFill>
                  <a:srgbClr val="6B705C"/>
                </a:solidFill>
                <a:latin typeface="Microsoft YaHei"/>
              </a:defRPr>
            </a:pPr>
            <a:r>
              <a:t>• 人工纠正与结果管理</a:t>
            </a:r>
          </a:p>
          <a:p>
            <a:pPr>
              <a:spcAft>
                <a:spcPts val="600"/>
              </a:spcAft>
              <a:defRPr sz="1200" b="0">
                <a:solidFill>
                  <a:srgbClr val="6B705C"/>
                </a:solidFill>
                <a:latin typeface="Microsoft YaHei"/>
              </a:defRPr>
            </a:pPr>
            <a:r>
              <a:t>• 完善的日志与监控体系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3017520"/>
            <a:ext cx="3474720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3017520"/>
            <a:ext cx="3474720" cy="45720"/>
          </a:xfrm>
          <a:prstGeom prst="rect">
            <a:avLst/>
          </a:prstGeom>
          <a:solidFill>
            <a:srgbClr val="C87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3200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8795C"/>
                </a:solidFill>
                <a:latin typeface="Microsoft YaHei"/>
              </a:defRPr>
            </a:pPr>
            <a:r>
              <a:t>🚀 未来展望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365760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6B705C"/>
                </a:solidFill>
                <a:latin typeface="Microsoft YaHei"/>
              </a:defRPr>
            </a:pPr>
            <a:r>
              <a:t>• 支持更多地址匹配模型</a:t>
            </a:r>
          </a:p>
          <a:p>
            <a:pPr>
              <a:spcAft>
                <a:spcPts val="600"/>
              </a:spcAft>
              <a:defRPr sz="1200" b="0">
                <a:solidFill>
                  <a:srgbClr val="6B705C"/>
                </a:solidFill>
                <a:latin typeface="Microsoft YaHei"/>
              </a:defRPr>
            </a:pPr>
            <a:r>
              <a:t>• 进一步提升批处理性能</a:t>
            </a:r>
          </a:p>
          <a:p>
            <a:pPr>
              <a:spcAft>
                <a:spcPts val="600"/>
              </a:spcAft>
              <a:defRPr sz="1200" b="0">
                <a:solidFill>
                  <a:srgbClr val="6B705C"/>
                </a:solidFill>
                <a:latin typeface="Microsoft YaHei"/>
              </a:defRPr>
            </a:pPr>
            <a:r>
              <a:t>• 增加批量人工审核功能</a:t>
            </a:r>
          </a:p>
          <a:p>
            <a:pPr>
              <a:spcAft>
                <a:spcPts val="600"/>
              </a:spcAft>
              <a:defRPr sz="1200" b="0">
                <a:solidFill>
                  <a:srgbClr val="6B705C"/>
                </a:solidFill>
                <a:latin typeface="Microsoft YaHei"/>
              </a:defRPr>
            </a:pPr>
            <a:r>
              <a:t>• API化服务接口扩展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71600" y="6291072"/>
            <a:ext cx="9448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D8F3DC"/>
                </a:solidFill>
                <a:latin typeface="Microsoft YaHei"/>
              </a:defRPr>
            </a:pPr>
            <a:r>
              <a:t>Thanks  ·  GitHub: badwoo  ·  Python + PostgreSQL + Streamlit + MGeo</a:t>
            </a:r>
          </a:p>
        </p:txBody>
      </p:sp>
      <p:sp>
        <p:nvSpPr>
          <p:cNvPr id="21" name="Oval 20"/>
          <p:cNvSpPr/>
          <p:nvPr/>
        </p:nvSpPr>
        <p:spPr>
          <a:xfrm>
            <a:off x="10515600" y="274320"/>
            <a:ext cx="228600" cy="228600"/>
          </a:xfrm>
          <a:prstGeom prst="ellipse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058400" y="274320"/>
            <a:ext cx="274320" cy="274320"/>
          </a:xfrm>
          <a:prstGeom prst="ellipse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97280" y="274320"/>
            <a:ext cx="228600" cy="228600"/>
          </a:xfrm>
          <a:prstGeom prst="ellipse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274320"/>
            <a:ext cx="320040" cy="320040"/>
          </a:xfrm>
          <a:prstGeom prst="ellipse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05C"/>
                </a:solidFill>
                <a:latin typeface="Microsoft YaHei"/>
              </a:defRPr>
            </a:pPr>
            <a:r>
              <a:t>12/12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